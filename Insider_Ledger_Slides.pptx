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9"/>
              </a:lnSpc>
              <a:defRPr sz="5400" b="1">
                <a:solidFill>
                  <a:srgbClr val="8B0000"/>
                </a:solidFill>
                <a:latin typeface="Arial"/>
              </a:defRPr>
            </a:pPr>
            <a:r>
              <a:t>INSIDER LEDGER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880360"/>
            <a:ext cx="2286000" cy="317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defRPr sz="2200" b="0">
                <a:solidFill>
                  <a:srgbClr val="333333"/>
                </a:solidFill>
                <a:latin typeface="Arial"/>
              </a:defRPr>
            </a:pPr>
            <a:r>
              <a:t>Who's Buying and Selling Their Own Stock?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A searchable record of corporate insider trades, from SEC filings and daily stock prices.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defRPr sz="1200" b="0">
                <a:solidFill>
                  <a:srgbClr val="666666"/>
                </a:solidFill>
                <a:latin typeface="Arial"/>
              </a:defRPr>
            </a:pPr>
            <a:r>
              <a:t>Dimuthu Attanayake  |  Data and Databases  |  July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The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What the data is,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 Directors, officers, and big shareholders must file a Form 4 with the SEC within two business days of buying or selling their own company's stock.</a:t>
            </a:r>
          </a:p>
          <a:p>
            <a:pPr>
              <a:lnSpc>
                <a:spcPts val="272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 It is one of the few public windows into what the people who know a company best are doing with their money.</a:t>
            </a:r>
          </a:p>
          <a:p>
            <a:pPr>
              <a:lnSpc>
                <a:spcPts val="272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 The filings are public, but scattered and full of jargon, so a normal reader can't really use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45720" cy="9601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8920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8B0000"/>
                </a:solidFill>
                <a:latin typeface="Arial"/>
              </a:defRPr>
            </a:pPr>
            <a:r>
              <a:t>My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257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700" b="0">
                <a:solidFill>
                  <a:srgbClr val="1A1A1A"/>
                </a:solidFill>
                <a:latin typeface="Arial"/>
              </a:defRPr>
            </a:pPr>
            <a:r>
              <a:t>Who is trading their own stock right now, are they buying or selling, and are they trading above or below the market price?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The Data: Two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One scraped, one from an API, merged on ticker and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Source 1: SEC EDGAR (scraped)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9748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The latest Form 4 filings feed.</a:t>
            </a:r>
          </a:p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Gives the insider, the company, the role, and the actual trades: shares, price, buy or sell.</a:t>
            </a:r>
          </a:p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The primary record, collected daily.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286000"/>
            <a:ext cx="18288" cy="3657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Source 2: Yahoo Finance (API)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The daily closing price for each company.</a:t>
            </a:r>
          </a:p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Answers the part Form 4 can't: did the insider trade above or below what the public paid that day?</a:t>
            </a:r>
          </a:p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The context that makes one trade meaningful.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A pipeline that updates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8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 Scrape: </a:t>
            </a:r>
            <a:r>
              <a:rPr sz="1600" b="0">
                <a:solidFill>
                  <a:srgbClr val="333333"/>
                </a:solidFill>
                <a:latin typeface="Arial"/>
              </a:rPr>
              <a:t>pull the latest 100 Form 4 filings, then follow each to its XML for the full trade details and footnote text.</a:t>
            </a:r>
          </a:p>
          <a:p>
            <a:pPr>
              <a:lnSpc>
                <a:spcPts val="288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 Detect and log: </a:t>
            </a:r>
            <a:r>
              <a:rPr sz="1600" b="0">
                <a:solidFill>
                  <a:srgbClr val="333333"/>
                </a:solidFill>
                <a:latin typeface="Arial"/>
              </a:rPr>
              <a:t>each filing gets a hash, so I can tell new filings from old ones and skip re-scraping. Every run writes a change log and an error log.</a:t>
            </a:r>
          </a:p>
          <a:p>
            <a:pPr>
              <a:lnSpc>
                <a:spcPts val="288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 Automate: </a:t>
            </a:r>
            <a:r>
              <a:rPr sz="1600" b="0">
                <a:solidFill>
                  <a:srgbClr val="333333"/>
                </a:solidFill>
                <a:latin typeface="Arial"/>
              </a:rPr>
              <a:t>a GitHub Action runs the scrape every day and saves new filings, so the data grows on its own. It went from 100 to about 300 rows in three days.</a:t>
            </a:r>
          </a:p>
          <a:p>
            <a:pPr>
              <a:lnSpc>
                <a:spcPts val="288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 Merge: </a:t>
            </a:r>
            <a:r>
              <a:rPr sz="1600" b="0">
                <a:solidFill>
                  <a:srgbClr val="333333"/>
                </a:solidFill>
                <a:latin typeface="Arial"/>
              </a:rPr>
              <a:t>I then pull stock prices for each ticker and join them to the trades.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Challenges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The main things that fought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45720" cy="12344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13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1A1A1A"/>
                </a:solidFill>
                <a:latin typeface="Arial"/>
              </a:defRPr>
            </a:pPr>
            <a:r>
              <a:t>The same filing appears twice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79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0">
                <a:solidFill>
                  <a:srgbClr val="333333"/>
                </a:solidFill>
                <a:latin typeface="Arial"/>
              </a:defRPr>
            </a:pPr>
            <a:r>
              <a:t>Each Form 4 is listed once under the insider and once under the company, so 100 rows was really 42 filings.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666666"/>
                </a:solidFill>
                <a:latin typeface="Arial"/>
              </a:defRPr>
            </a:pPr>
            <a:r>
              <a:t>Fix: dedupe on the accession number.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03320"/>
            <a:ext cx="45720" cy="12344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1A1A1A"/>
                </a:solidFill>
                <a:latin typeface="Arial"/>
              </a:defRPr>
            </a:pPr>
            <a:r>
              <a:t>The data is deeply nested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965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0">
                <a:solidFill>
                  <a:srgbClr val="333333"/>
                </a:solidFill>
                <a:latin typeface="Arial"/>
              </a:defRPr>
            </a:pPr>
            <a:r>
              <a:t>The real detail lives in XML, with a different shape for different trade types.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666666"/>
                </a:solidFill>
                <a:latin typeface="Arial"/>
              </a:defRPr>
            </a:pPr>
            <a:r>
              <a:t>Fix: flatten it into clean rows, keeping only the fields that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120640"/>
            <a:ext cx="45720" cy="12344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148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1A1A1A"/>
                </a:solidFill>
                <a:latin typeface="Arial"/>
              </a:defRPr>
            </a:pPr>
            <a:r>
              <a:t>Prices don't always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5138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0">
                <a:solidFill>
                  <a:srgbClr val="333333"/>
                </a:solidFill>
                <a:latin typeface="Arial"/>
              </a:defRPr>
            </a:pPr>
            <a:r>
              <a:t>Weekend trades have no closing price, and small or foreign tickers aren't on Yahoo.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666666"/>
                </a:solidFill>
                <a:latin typeface="Arial"/>
              </a:defRPr>
            </a:pPr>
            <a:r>
              <a:t>Result: about 10% of trades get no market price, left blank.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Two tables, joined. One filing has many trades.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filings  (one row per filing)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9748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accession (id)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insider name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company, ticker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relationship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filing date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footnotes, SEC 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286000"/>
            <a:ext cx="18288" cy="3291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trades  (one row per transaction)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accession (link to filing)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transaction date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code (buy or sell)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shares, price, value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market close  (from source 2)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percent vs market  (from source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defRPr sz="1300" b="0">
                <a:solidFill>
                  <a:srgbClr val="666666"/>
                </a:solidFill>
                <a:latin typeface="Arial"/>
              </a:defRPr>
            </a:pPr>
            <a:r>
              <a:t>One row per transaction is the searchable unit, because that is how a reader thinks: show me the buys. The two price fields join in on ticker and transaction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The Public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0">
                <a:solidFill>
                  <a:srgbClr val="666666"/>
                </a:solidFill>
                <a:latin typeface="Arial"/>
              </a:defRPr>
            </a:pPr>
            <a:r>
              <a:t>Made searchable for someone who has never read a 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What users can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9748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Search by insider, company, ticker, or role.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Filter by buy vs sell.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Page through results.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Export the results to CSV.</a:t>
            </a:r>
          </a:p>
          <a:p>
            <a:pPr>
              <a:lnSpc>
                <a:spcPts val="224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•   Built with Flask and SQLite, hosted on Render.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286000"/>
            <a:ext cx="18288" cy="3108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Example searches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•   Example 1: </a:t>
            </a:r>
            <a:r>
              <a:rPr sz="1400" b="0">
                <a:solidFill>
                  <a:srgbClr val="333333"/>
                </a:solidFill>
                <a:latin typeface="Arial"/>
              </a:rPr>
              <a:t>every open-market purchase by a director. Selling is routine, but an insider buying with their own cash is the rare, interesting event.</a:t>
            </a:r>
          </a:p>
          <a:p>
            <a:pPr>
              <a:lnSpc>
                <a:spcPts val="238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•   Example 2: </a:t>
            </a:r>
            <a:r>
              <a:rPr sz="1400" b="0">
                <a:solidFill>
                  <a:srgbClr val="333333"/>
                </a:solidFill>
                <a:latin typeface="Arial"/>
              </a:rPr>
              <a:t>all trades for one ticker, showing whether each was above or below market.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666666"/>
                </a:solidFill>
                <a:latin typeface="Arial"/>
              </a:defRPr>
            </a:pPr>
            <a:r>
              <a:t>(Wireframe sketch to be added here.)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82296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defRPr sz="3600" b="1">
                <a:solidFill>
                  <a:srgbClr val="8B0000"/>
                </a:solidFill>
                <a:latin typeface="Arial"/>
              </a:defRPr>
            </a:pPr>
            <a:r>
              <a:t>Methodology, Horizon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The data,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51460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•   Reveals: </a:t>
            </a:r>
            <a:r>
              <a:rPr sz="1350" b="0">
                <a:solidFill>
                  <a:srgbClr val="333333"/>
                </a:solidFill>
                <a:latin typeface="Arial"/>
              </a:rPr>
              <a:t>a near real-time, verifiable record. Every row links back to the original SEC filing.</a:t>
            </a:r>
          </a:p>
          <a:p>
            <a:pPr>
              <a:lnSpc>
                <a:spcPts val="216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•   Missing: </a:t>
            </a:r>
            <a:r>
              <a:rPr sz="1350" b="0">
                <a:solidFill>
                  <a:srgbClr val="333333"/>
                </a:solidFill>
                <a:latin typeface="Arial"/>
              </a:rPr>
              <a:t>recent filings only, no long history. Mostly selling and grants; buys are rare. It shows what, not why.</a:t>
            </a:r>
          </a:p>
          <a:p>
            <a:pPr>
              <a:lnSpc>
                <a:spcPts val="216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•   Ethics: </a:t>
            </a:r>
            <a:r>
              <a:rPr sz="1350" b="0">
                <a:solidFill>
                  <a:srgbClr val="333333"/>
                </a:solidFill>
                <a:latin typeface="Arial"/>
              </a:rPr>
              <a:t>public data, but it aggregates named people's finances. A trade is not proof of intent.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2103120"/>
            <a:ext cx="18288" cy="374903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8B0000"/>
                </a:solidFill>
                <a:latin typeface="Arial"/>
              </a:defRPr>
            </a:pPr>
            <a:r>
              <a:t>Where next, and 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514600"/>
            <a:ext cx="2286000" cy="190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974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Arial"/>
              </a:rPr>
              <a:t>•   Ship the app on Render, finalize the tables, add filters, write the full methodology.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8B0000"/>
                </a:solidFill>
                <a:latin typeface="Arial"/>
              </a:defRPr>
            </a:pPr>
            <a:r>
              <a:t>Questions for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Arial"/>
              </a:rPr>
              <a:t>•   Is one row per transaction the clearest unit, or should I group by filing or insider?</a:t>
            </a:r>
          </a:p>
          <a:p>
            <a:pPr>
              <a:lnSpc>
                <a:spcPts val="216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Arial"/>
              </a:rPr>
              <a:t>•   How do I show 'traded 2% below market' as useful context without implying a signal that isn't there?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defRPr sz="1000" b="0">
                <a:solidFill>
                  <a:srgbClr val="666666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